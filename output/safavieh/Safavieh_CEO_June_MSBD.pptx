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Safavieh CEO In-Office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June MSBD performance · Badging simulation · Same-day induction before 2pm</a:t>
            </a:r>
            <a:br/>
            <a:r>
              <a:t>Dropship · Rugs STO · 73k 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Wayfair · Small Parcel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365D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~73k dropship rug ops in June MSBD across 13 US warehouses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90.3% induction fill rate (IFR) — strong month vs recent trend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Badging today: 0.5% 1-day · 9.5% 2-day · 42.5% 3-day · 84.7% fast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Full policy sim: 6.3% 1-day · 26.4% 2-day · 59.5% 3-day · 86.9% fast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+17 pp uplift at 2- and 3-day tiers — bigger than fast badge (+2 pp)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68.3% same-day induction before 2pm — operational proof point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365D"/>
                </a:solidFill>
              </a:defRPr>
            </a:pPr>
            <a:r>
              <a:t>June MSBD — parent snapshot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371600"/>
          <a:ext cx="96012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365760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Volume (distinct ops)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73,253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Induction Fill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90.3%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Fast-badge % (o2d_stated ≤ 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84.7%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Same-day induct before 2pm (toolkit)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68.3%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Orders before 2pm (toolkit)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23,237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Warehouses (US)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365D"/>
                </a:solidFill>
              </a:defRPr>
            </a:pPr>
            <a:r>
              <a:t>Same-day induction before 2pm — the ops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Only 68% of before-2pm orders inducted same day network-wide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Best: Carlisle PA 94% · Riverside CA 84% · Savannah GA 84%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Worst: Easton PA 42% · NJ sites ~50% · Port Wentworth GA 51%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Toolkit o2i_0 (business day) — not HVE 8am-adjusted 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2pm cutoff commitment requires FedEx pickup + warehouse processing alignment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365D"/>
                </a:solidFill>
              </a:defRPr>
            </a:pPr>
            <a:r>
              <a:t>Same-day induction before 2pm by warehouse (June)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</a:defRPr>
            </a:pPr>
            <a:r>
              <a:t>Toolkit hourly · Tue–Sat orders · order_hour ≤ 14 local · June 2026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676656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"/>
                <a:gridCol w="822960"/>
                <a:gridCol w="1097280"/>
                <a:gridCol w="1371600"/>
              </a:tblGrid>
              <a:tr h="29260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Vol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IFR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Fast badge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≤2pm same-day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Carlisle, 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1,475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7AE60"/>
                          </a:solidFill>
                        </a:defRPr>
                      </a:pPr>
                      <a:r>
                        <a:t>94%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Riverside,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7,967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Savannah, 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6,483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Whitestown,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13,757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73%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Patterson,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5,271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73%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Baytown, TX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12,824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Midway, 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5,975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Port Wentworth, 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1,665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0392B"/>
                          </a:solidFill>
                        </a:defRPr>
                      </a:pPr>
                      <a:r>
                        <a:t>51%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Lebanon, NJ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9,377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0392B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Flemington, NJ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4,446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0392B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Easton, 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2,855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0392B"/>
                          </a:solidFill>
                        </a:defRPr>
                      </a:pPr>
                      <a:r>
                        <a:t>42%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65D"/>
                </a:solidFill>
              </a:defRPr>
            </a:pPr>
            <a:r>
              <a:t>IFR by warehouse (June MSBD)</a:t>
            </a:r>
          </a:p>
        </p:txBody>
      </p:sp>
      <p:pic>
        <p:nvPicPr>
          <p:cNvPr id="3" name="Picture 2" descr="01_ifr_by_wareho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521440" cy="68770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65D"/>
                </a:solidFill>
              </a:defRPr>
            </a:pPr>
            <a:r>
              <a:t>Same-day induction before 2pm — ops gap</a:t>
            </a:r>
          </a:p>
        </p:txBody>
      </p:sp>
      <p:pic>
        <p:nvPicPr>
          <p:cNvPr id="3" name="Picture 2" descr="02_before_2pm_same_day_ind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521440" cy="68585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65D"/>
                </a:solidFill>
              </a:defRPr>
            </a:pPr>
            <a:r>
              <a:t>IFR vs before-2pm induction opportunity</a:t>
            </a:r>
          </a:p>
        </p:txBody>
      </p:sp>
      <p:pic>
        <p:nvPicPr>
          <p:cNvPr id="3" name="Picture 2" descr="03_ifr_vs_before_2pm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521440" cy="893041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65D"/>
                </a:solidFill>
              </a:defRPr>
            </a:pPr>
            <a:r>
              <a:t>Badging coverage by speed tier</a:t>
            </a:r>
          </a:p>
        </p:txBody>
      </p:sp>
      <p:pic>
        <p:nvPicPr>
          <p:cNvPr id="3" name="Picture 2" descr="04_badging_tiers_current_vs_s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521440" cy="69871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65D"/>
                </a:solidFill>
              </a:defRPr>
            </a:pPr>
            <a:r>
              <a:t>Badging opportunity — uplift and newly badged orders</a:t>
            </a:r>
          </a:p>
        </p:txBody>
      </p:sp>
      <p:pic>
        <p:nvPicPr>
          <p:cNvPr id="3" name="Picture 2" descr="05_badging_opportunity_upl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521440" cy="499133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65D"/>
                </a:solidFill>
              </a:defRPr>
            </a:pPr>
            <a:r>
              <a:t>3-day badge by warehouse — current vs simulated</a:t>
            </a:r>
          </a:p>
        </p:txBody>
      </p:sp>
      <p:pic>
        <p:nvPicPr>
          <p:cNvPr id="3" name="Picture 2" descr="06_3d_badge_by_wareho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521440" cy="68817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365D"/>
                </a:solidFill>
              </a:defRPr>
            </a:pPr>
            <a:r>
              <a:t>Badging simulation — all speed tiers (June MSBD)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112471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1-day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2-day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3-day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Fast ≤5d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June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84.7%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2pm + no cushion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85.8%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 Weekend shipping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86.9%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Uplift (full vs June)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7AE60"/>
                          </a:solidFill>
                        </a:defRPr>
                      </a:pPr>
                      <a:r>
                        <a:t>+5.8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7AE60"/>
                          </a:solidFill>
                        </a:defRPr>
                      </a:pPr>
                      <a:r>
                        <a:t>+17.1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7AE60"/>
                          </a:solidFill>
                        </a:defRPr>
                      </a:pPr>
                      <a:r>
                        <a:t>+17.0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7AE60"/>
                          </a:solidFill>
                        </a:defRPr>
                      </a:pPr>
                      <a:r>
                        <a:t>+2.2 pp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00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Newly badged (full sim): 4,260 · 1-day | 12,406 · 2-day | 12,479 · 3-day | 1,644 · fast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Rules: remove cushion (−1d) · 2pm cutoff (−1d) · weekend ship (−1d). Badge tier = sim O2D ≤ N days.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365D"/>
                </a:solidFill>
              </a:defRPr>
            </a:pPr>
            <a:r>
              <a:t>Three policy levers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Zero cushion — lifts all tiers; largest at 2- and 3-day (+~14 pp)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2:00 PM cutoff everywhere — Easton &amp; Port Wentworth biggest uplift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Weekend shipping — +4 pp at 3-day tier on top of policy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Combined: ~12.5k newly 2-day and 3-day badged orders in June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Fast badge (≤5d) only +2.2 pp — lead with 2/3-day story for CEO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365D"/>
                </a:solidFill>
              </a:defRPr>
            </a:pPr>
            <a:r>
              <a:t>Discussion questions for the CEO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Can every DC match Carlisle's 94% same-day induction before 2pm?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Will Safavieh standardize 2:00 PM cutoff and zero cushion network-wide?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Is weekend shipping feasible at NJ and PA nodes?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What FedEx pickup schedule runs at Easton, Lebanon, Port Wentworth today?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What's driving NJ IFR weakness (Flemington 76%, Lebanon 82%)?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365D"/>
                </a:solidFill>
              </a:defRPr>
            </a:pPr>
            <a:r>
              <a:t>Data &amp;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Pre-read: github.com/et844p/O2S/blob/cursor/safavieh-ceo-preread-b7d6/docs/small_parcel/safavieh_ceo_meeting_preread.md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Warehouse CSV: output/safavieh/safavieh_june_warehouse_analysis.csv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SQL: sql/safavieh_june_msbd_warehouse_analysis.sql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PR #16: github.com/et844p/O2S/pull/16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